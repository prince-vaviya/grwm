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47B5A"/>
              </a:solidFill>
              <a:effectLst/>
            </c:spPr>
          </c:dPt>
          <c:dPt>
            <c:idx val="1"/>
            <c:bubble3D val="0"/>
            <c:spPr>
              <a:solidFill>
                <a:srgbClr val="E86040"/>
              </a:solidFill>
              <a:effectLst/>
            </c:spPr>
          </c:dPt>
          <c:dPt>
            <c:idx val="2"/>
            <c:bubble3D val="0"/>
            <c:spPr>
              <a:solidFill>
                <a:srgbClr val="6B21A8"/>
              </a:solidFill>
              <a:effectLst/>
            </c:spPr>
          </c:dPt>
          <c:dPt>
            <c:idx val="3"/>
            <c:bubble3D val="0"/>
            <c:spPr>
              <a:solidFill>
                <a:srgbClr val="9333EA"/>
              </a:solidFill>
              <a:effectLst/>
            </c:spPr>
          </c:dPt>
          <c:dPt>
            <c:idx val="4"/>
            <c:bubble3D val="0"/>
            <c:spPr>
              <a:solidFill>
                <a:srgbClr val="A855F7"/>
              </a:solidFill>
              <a:effectLst/>
            </c:spPr>
          </c:dPt>
          <c:dPt>
            <c:idx val="5"/>
            <c:bubble3D val="0"/>
            <c:spPr>
              <a:solidFill>
                <a:srgbClr val="C084FC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Subscription</c:v>
                </c:pt>
                <c:pt idx="1">
                  <c:v>Affiliate</c:v>
                </c:pt>
                <c:pt idx="2">
                  <c:v>In-App</c:v>
                </c:pt>
                <c:pt idx="3">
                  <c:v>Advertising</c:v>
                </c:pt>
                <c:pt idx="4">
                  <c:v>Events</c:v>
                </c:pt>
                <c:pt idx="5">
                  <c:v>Data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1200000</c:v>
                </c:pt>
                <c:pt idx="1">
                  <c:v>500000</c:v>
                </c:pt>
                <c:pt idx="2">
                  <c:v>300000</c:v>
                </c:pt>
                <c:pt idx="3">
                  <c:v>100000</c:v>
                </c:pt>
                <c:pt idx="4">
                  <c:v>50000</c:v>
                </c:pt>
                <c:pt idx="5">
                  <c:v>50000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>      </a:defRPr>
          </a:pPr>
          <a:endParaRPr lang="en-US"/>
        </a:p>
      </c:txPr>
    </c:legend>
    <c:plotVisOnly val="1"/>
    <c:dispBlanksAs val="span"/>
  </c:chart>
  <c:spPr>
    <a:solidFill>
      <a:srgbClr val="E8E3D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371600"/>
            <a:ext cx="5029200" cy="5029200"/>
          </a:xfrm>
          <a:prstGeom prst="ellipse">
            <a:avLst/>
          </a:prstGeom>
          <a:solidFill>
            <a:srgbClr val="F47B5A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2926080"/>
            <a:ext cx="3657600" cy="3657600"/>
          </a:xfrm>
          <a:prstGeom prst="ellipse">
            <a:avLst/>
          </a:prstGeom>
          <a:solidFill>
            <a:srgbClr val="6B21A8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47B5A"/>
          </a:solidFill>
          <a:ln/>
        </p:spPr>
      </p:sp>
      <p:sp>
        <p:nvSpPr>
          <p:cNvPr id="5" name="Shape 3"/>
          <p:cNvSpPr/>
          <p:nvPr/>
        </p:nvSpPr>
        <p:spPr>
          <a:xfrm>
            <a:off x="411480" y="822960"/>
            <a:ext cx="2743200" cy="347472"/>
          </a:xfrm>
          <a:prstGeom prst="roundRect">
            <a:avLst>
              <a:gd name="adj" fmla="val 50000"/>
            </a:avLst>
          </a:prstGeom>
          <a:solidFill>
            <a:srgbClr val="F47B5A">
              <a:alpha val="7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8229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</a:rPr>
              <a:t>GROUP: NO_IDEA  ·  TEAM GRWM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65760" y="1325880"/>
            <a:ext cx="5486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GRWM</a:t>
            </a:r>
            <a:endParaRPr lang="en-US" sz="9000" dirty="0"/>
          </a:p>
        </p:txBody>
      </p:sp>
      <p:sp>
        <p:nvSpPr>
          <p:cNvPr id="8" name="Text 6"/>
          <p:cNvSpPr/>
          <p:nvPr/>
        </p:nvSpPr>
        <p:spPr>
          <a:xfrm>
            <a:off x="365760" y="283464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4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Get Ready With Me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65760" y="345643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0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AI-Powered Virtual Grooming &amp; Styling Platform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65760" y="41148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7B5A"/>
                </a:solidFill>
              </a:rPr>
              <a:t>WWW.BOWOW.COM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</a:rPr>
              <a:t>Investor Pitch Deck  ·  2025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E3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8229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4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ISSUE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87552"/>
            <a:ext cx="265176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87552"/>
            <a:ext cx="2651760" cy="82296"/>
          </a:xfrm>
          <a:prstGeom prst="rect">
            <a:avLst/>
          </a:prstGeom>
          <a:solidFill>
            <a:srgbClr val="F47B5A"/>
          </a:solidFill>
          <a:ln/>
        </p:spPr>
      </p:sp>
      <p:sp>
        <p:nvSpPr>
          <p:cNvPr id="6" name="Shape 4"/>
          <p:cNvSpPr/>
          <p:nvPr/>
        </p:nvSpPr>
        <p:spPr>
          <a:xfrm>
            <a:off x="1325880" y="1170432"/>
            <a:ext cx="640080" cy="640080"/>
          </a:xfrm>
          <a:prstGeom prst="ellipse">
            <a:avLst/>
          </a:prstGeom>
          <a:solidFill>
            <a:srgbClr val="F47B5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252728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1480" y="192024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0A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Can't Visualize Before Buying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2432304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People struggle to see how clothes, hairstyles, and accessories will look on them before purchasing.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154680" y="987552"/>
            <a:ext cx="265176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154680" y="987552"/>
            <a:ext cx="2651760" cy="82296"/>
          </a:xfrm>
          <a:prstGeom prst="rect">
            <a:avLst/>
          </a:prstGeom>
          <a:solidFill>
            <a:srgbClr val="F47B5A"/>
          </a:solidFill>
          <a:ln/>
        </p:spPr>
      </p:sp>
      <p:sp>
        <p:nvSpPr>
          <p:cNvPr id="12" name="Shape 9"/>
          <p:cNvSpPr/>
          <p:nvPr/>
        </p:nvSpPr>
        <p:spPr>
          <a:xfrm>
            <a:off x="4160520" y="1170432"/>
            <a:ext cx="640080" cy="640080"/>
          </a:xfrm>
          <a:prstGeom prst="ellipse">
            <a:avLst/>
          </a:prstGeom>
          <a:solidFill>
            <a:srgbClr val="F47B5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1252728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246120" y="192024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0A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Size Mismatches &amp; Styling Fails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3291840" y="2432304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Many online shoppers face issues with size mismatches and poor styling decisions — costing time and money.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989320" y="987552"/>
            <a:ext cx="265176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989320" y="987552"/>
            <a:ext cx="2651760" cy="82296"/>
          </a:xfrm>
          <a:prstGeom prst="rect">
            <a:avLst/>
          </a:prstGeom>
          <a:solidFill>
            <a:srgbClr val="F47B5A"/>
          </a:solidFill>
          <a:ln/>
        </p:spPr>
      </p:sp>
      <p:sp>
        <p:nvSpPr>
          <p:cNvPr id="18" name="Shape 14"/>
          <p:cNvSpPr/>
          <p:nvPr/>
        </p:nvSpPr>
        <p:spPr>
          <a:xfrm>
            <a:off x="6995160" y="1170432"/>
            <a:ext cx="640080" cy="640080"/>
          </a:xfrm>
          <a:prstGeom prst="ellipse">
            <a:avLst/>
          </a:prstGeom>
          <a:solidFill>
            <a:srgbClr val="F47B5A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252728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080760" y="192024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0A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Returns Are Costly &amp; Slow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6126480" y="2432304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Returning unsuitable purchases is time-consuming and expensive for both shoppers and brands.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320040" y="3794760"/>
            <a:ext cx="8503920" cy="1078992"/>
          </a:xfrm>
          <a:prstGeom prst="rect">
            <a:avLst/>
          </a:prstGeom>
          <a:solidFill>
            <a:srgbClr val="0A0A0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320040" y="3794760"/>
            <a:ext cx="73152" cy="1078992"/>
          </a:xfrm>
          <a:prstGeom prst="rect">
            <a:avLst/>
          </a:prstGeom>
          <a:solidFill>
            <a:srgbClr val="F47B5A"/>
          </a:solidFill>
          <a:ln/>
        </p:spPr>
      </p:sp>
      <p:sp>
        <p:nvSpPr>
          <p:cNvPr id="24" name="Text 19"/>
          <p:cNvSpPr/>
          <p:nvPr/>
        </p:nvSpPr>
        <p:spPr>
          <a:xfrm>
            <a:off x="502920" y="38587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47B5A"/>
                </a:solidFill>
              </a:rPr>
              <a:t>THE OPPORTUNITY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502920" y="417880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 digital grooming and styling solution can reduce uncertainty and dramatically improve customer confidence in their purchasing decisions.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097280"/>
            <a:ext cx="5486400" cy="5486400"/>
          </a:xfrm>
          <a:prstGeom prst="ellipse">
            <a:avLst/>
          </a:prstGeom>
          <a:solidFill>
            <a:srgbClr val="F47B5A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6B21A8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F47B5A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0"/>
            <a:ext cx="8321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SOLUTION — MEET GRWM 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7B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 Offer: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2651760" cy="2011680"/>
          </a:xfrm>
          <a:prstGeom prst="rect">
            <a:avLst/>
          </a:prstGeom>
          <a:solidFill>
            <a:srgbClr val="FFFFFF">
              <a:alpha val="7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417320"/>
            <a:ext cx="2651760" cy="73152"/>
          </a:xfrm>
          <a:prstGeom prst="rect">
            <a:avLst/>
          </a:prstGeom>
          <a:solidFill>
            <a:srgbClr val="F47B5A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1600200"/>
            <a:ext cx="438912" cy="43891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33272" y="157276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Virtual Try-Ons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2121408"/>
            <a:ext cx="23957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CCCC"/>
                </a:solidFill>
              </a:rPr>
              <a:t>Using AR, users experiment with outfits, hairstyles, and accessories in real time on a live camera feed.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154680" y="1417320"/>
            <a:ext cx="2651760" cy="2011680"/>
          </a:xfrm>
          <a:prstGeom prst="rect">
            <a:avLst/>
          </a:prstGeom>
          <a:solidFill>
            <a:srgbClr val="FFFFFF">
              <a:alpha val="7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154680" y="1417320"/>
            <a:ext cx="2651760" cy="73152"/>
          </a:xfrm>
          <a:prstGeom prst="rect">
            <a:avLst/>
          </a:prstGeom>
          <a:solidFill>
            <a:srgbClr val="F47B5A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9272" y="1600200"/>
            <a:ext cx="438912" cy="43891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867912" y="157276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Styling Assistant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291840" y="2121408"/>
            <a:ext cx="23957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CCCC"/>
                </a:solidFill>
              </a:rPr>
              <a:t>AI provides outfit suggestions, styling tips, and size recommendations based on user body data.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5989320" y="1417320"/>
            <a:ext cx="2651760" cy="2011680"/>
          </a:xfrm>
          <a:prstGeom prst="rect">
            <a:avLst/>
          </a:prstGeom>
          <a:solidFill>
            <a:srgbClr val="FFFFFF">
              <a:alpha val="7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989320" y="1417320"/>
            <a:ext cx="2651760" cy="73152"/>
          </a:xfrm>
          <a:prstGeom prst="rect">
            <a:avLst/>
          </a:prstGeom>
          <a:solidFill>
            <a:srgbClr val="F47B5A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3912" y="1600200"/>
            <a:ext cx="438912" cy="43891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702552" y="157276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Seamless Shopping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126480" y="2121408"/>
            <a:ext cx="23957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CCCC"/>
                </a:solidFill>
              </a:rPr>
              <a:t>Integrated links let users purchase tried-on items directly from partner brand catalogues.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365760" y="35661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7B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It Works:</a:t>
            </a:r>
            <a:endParaRPr lang="en-US" sz="130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4005072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77240" y="39776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Reduces the hassle of returns and improves online shopping confidence.</a:t>
            </a:r>
            <a:endParaRPr lang="en-US" sz="125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4480560"/>
            <a:ext cx="274320" cy="27432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77240" y="445312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Offers a fun, interactive, and personalized styling experience for every user.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E3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5143500"/>
          </a:xfrm>
          <a:prstGeom prst="rect">
            <a:avLst/>
          </a:prstGeom>
          <a:solidFill>
            <a:srgbClr val="F47B5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0"/>
            <a:ext cx="35661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MAKES US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DIFFERENT?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4389120" y="594360"/>
            <a:ext cx="457200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389120" y="594360"/>
            <a:ext cx="64008" cy="960120"/>
          </a:xfrm>
          <a:prstGeom prst="rect">
            <a:avLst/>
          </a:prstGeom>
          <a:solidFill>
            <a:srgbClr val="F47B5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53712" y="850392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47488" y="649224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 + AI Synergy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047488" y="996696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Unlike competitors, we integrate both AR try-ons and AI-powered personalized styling in one seamless app.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389120" y="1691640"/>
            <a:ext cx="457200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89120" y="1691640"/>
            <a:ext cx="64008" cy="960120"/>
          </a:xfrm>
          <a:prstGeom prst="rect">
            <a:avLst/>
          </a:prstGeom>
          <a:solidFill>
            <a:srgbClr val="F47B5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3712" y="1947672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047488" y="1746504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Freemium Model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5047488" y="2093976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Free basic try-ons for all users, with premium subscriptions unlocking custom designs and expert consultations.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4389120" y="2788920"/>
            <a:ext cx="457200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389120" y="2788920"/>
            <a:ext cx="64008" cy="960120"/>
          </a:xfrm>
          <a:prstGeom prst="rect">
            <a:avLst/>
          </a:prstGeom>
          <a:solidFill>
            <a:srgbClr val="F47B5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3712" y="3044952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047488" y="2843784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Social Engagement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5047488" y="3191256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Users can share looks, get community feedback, and participate in virtual fashion events and contests.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4389120" y="3886200"/>
            <a:ext cx="457200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389120" y="3886200"/>
            <a:ext cx="64008" cy="960120"/>
          </a:xfrm>
          <a:prstGeom prst="rect">
            <a:avLst/>
          </a:prstGeom>
          <a:solidFill>
            <a:srgbClr val="F47B5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3712" y="4142232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047488" y="3941064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Data-Driven Personalization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5047488" y="4288536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AI tailors fashion recommendations based on each user's body type, skin tone, and personal preferences.</a:t>
            </a:r>
            <a:endParaRPr lang="en-US" sz="950" dirty="0"/>
          </a:p>
        </p:txBody>
      </p:sp>
      <p:sp>
        <p:nvSpPr>
          <p:cNvPr id="24" name="Text 18"/>
          <p:cNvSpPr/>
          <p:nvPr/>
        </p:nvSpPr>
        <p:spPr>
          <a:xfrm>
            <a:off x="86868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6B21A8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8229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4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FEATURES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743200" cy="1719072"/>
          </a:xfrm>
          <a:prstGeom prst="rect">
            <a:avLst/>
          </a:prstGeom>
          <a:solidFill>
            <a:srgbClr val="FFFFFF">
              <a:alpha val="7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64008" cy="1719072"/>
          </a:xfrm>
          <a:prstGeom prst="rect">
            <a:avLst/>
          </a:prstGeom>
          <a:solidFill>
            <a:srgbClr val="F47B5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61288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9264" y="1088136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 Integration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1581912"/>
            <a:ext cx="24505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BBBB"/>
                </a:solidFill>
              </a:rPr>
              <a:t>Virtually try on clothes, hairstyles, and accessories with live camera AR overlay — no purchase needed.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46120" y="960120"/>
            <a:ext cx="2743200" cy="1719072"/>
          </a:xfrm>
          <a:prstGeom prst="rect">
            <a:avLst/>
          </a:prstGeom>
          <a:solidFill>
            <a:srgbClr val="FFFFFF">
              <a:alpha val="7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46120" y="960120"/>
            <a:ext cx="64008" cy="1719072"/>
          </a:xfrm>
          <a:prstGeom prst="rect">
            <a:avLst/>
          </a:prstGeom>
          <a:solidFill>
            <a:srgbClr val="F47B5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161288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941064" y="1088136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Design Suggestions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429000" y="1581912"/>
            <a:ext cx="24505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BBBB"/>
                </a:solidFill>
              </a:rPr>
              <a:t>AI generates clothing design ideas based on user prompts, body data, and style preferences.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217920" y="960120"/>
            <a:ext cx="2743200" cy="1719072"/>
          </a:xfrm>
          <a:prstGeom prst="rect">
            <a:avLst/>
          </a:prstGeom>
          <a:solidFill>
            <a:srgbClr val="FFFFFF">
              <a:alpha val="7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17920" y="960120"/>
            <a:ext cx="64008" cy="1719072"/>
          </a:xfrm>
          <a:prstGeom prst="rect">
            <a:avLst/>
          </a:prstGeom>
          <a:solidFill>
            <a:srgbClr val="F47B5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161288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912864" y="1088136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Tiered Subscriptions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400800" y="1581912"/>
            <a:ext cx="24505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BBBB"/>
                </a:solidFill>
              </a:rPr>
              <a:t>Freemium → Mid-Tier → Premium with unlimited try-ons, custom designs, and styling consultations.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274320" y="2834640"/>
            <a:ext cx="2743200" cy="1719072"/>
          </a:xfrm>
          <a:prstGeom prst="rect">
            <a:avLst/>
          </a:prstGeom>
          <a:solidFill>
            <a:srgbClr val="FFFFFF">
              <a:alpha val="7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274320" y="2834640"/>
            <a:ext cx="64008" cy="1719072"/>
          </a:xfrm>
          <a:prstGeom prst="rect">
            <a:avLst/>
          </a:prstGeom>
          <a:solidFill>
            <a:srgbClr val="6B21A8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035808"/>
            <a:ext cx="402336" cy="40233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69264" y="2962656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Personalized Styling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457200" y="3456432"/>
            <a:ext cx="24505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BBBB"/>
                </a:solidFill>
              </a:rPr>
              <a:t>Smart recommendations tailored to user measurements, skin tone, and fashion history.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3246120" y="2834640"/>
            <a:ext cx="2743200" cy="1719072"/>
          </a:xfrm>
          <a:prstGeom prst="rect">
            <a:avLst/>
          </a:prstGeom>
          <a:solidFill>
            <a:srgbClr val="FFFFFF">
              <a:alpha val="7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246120" y="2834640"/>
            <a:ext cx="64008" cy="1719072"/>
          </a:xfrm>
          <a:prstGeom prst="rect">
            <a:avLst/>
          </a:prstGeom>
          <a:solidFill>
            <a:srgbClr val="6B21A8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0" y="3035808"/>
            <a:ext cx="402336" cy="40233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941064" y="2962656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Accurate Sizing Engine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3429000" y="3456432"/>
            <a:ext cx="24505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BBBB"/>
                </a:solidFill>
              </a:rPr>
              <a:t>Predicts optimal clothing size from height and width inputs — dramatically reduces return rates.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6217920" y="2834640"/>
            <a:ext cx="2743200" cy="1719072"/>
          </a:xfrm>
          <a:prstGeom prst="rect">
            <a:avLst/>
          </a:prstGeom>
          <a:solidFill>
            <a:srgbClr val="FFFFFF">
              <a:alpha val="7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217920" y="2834640"/>
            <a:ext cx="64008" cy="1719072"/>
          </a:xfrm>
          <a:prstGeom prst="rect">
            <a:avLst/>
          </a:prstGeom>
          <a:solidFill>
            <a:srgbClr val="6B21A8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3035808"/>
            <a:ext cx="402336" cy="40233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912864" y="2962656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Brand Partnerships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6400800" y="3456432"/>
            <a:ext cx="24505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BBBB"/>
                </a:solidFill>
              </a:rPr>
              <a:t>Featured products, sponsored try-on contests, affiliate commissions, and white-label VTO tech.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E3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0" cy="51435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 rot="5400000">
            <a:off x="-1463040" y="0"/>
            <a:ext cx="51435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MARKETING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STRATEGY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011680" y="0"/>
            <a:ext cx="7132320" cy="640080"/>
          </a:xfrm>
          <a:prstGeom prst="rect">
            <a:avLst/>
          </a:prstGeom>
          <a:solidFill>
            <a:srgbClr val="F47B5A"/>
          </a:solidFill>
          <a:ln/>
        </p:spPr>
      </p:sp>
      <p:sp>
        <p:nvSpPr>
          <p:cNvPr id="5" name="Text 3"/>
          <p:cNvSpPr/>
          <p:nvPr/>
        </p:nvSpPr>
        <p:spPr>
          <a:xfrm>
            <a:off x="2103120" y="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FFFFF"/>
                </a:solidFill>
              </a:rPr>
              <a:t>HOW WE'LL GET USERS TO JOIN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148840" y="804672"/>
            <a:ext cx="681228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67712" y="950976"/>
            <a:ext cx="475488" cy="475488"/>
          </a:xfrm>
          <a:prstGeom prst="ellipse">
            <a:avLst/>
          </a:prstGeom>
          <a:solidFill>
            <a:srgbClr val="F47B5A"/>
          </a:solidFill>
          <a:ln/>
        </p:spPr>
      </p:sp>
      <p:sp>
        <p:nvSpPr>
          <p:cNvPr id="8" name="Text 6"/>
          <p:cNvSpPr/>
          <p:nvPr/>
        </p:nvSpPr>
        <p:spPr>
          <a:xfrm>
            <a:off x="2267712" y="9509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71216" y="987552"/>
            <a:ext cx="347472" cy="3474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337560" y="859536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0A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Influencer &amp; Social Media Campaigns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3337560" y="1197864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Partner with fashion influencers to showcase app features on Instagram, TikTok, and YouTube.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148840" y="1664208"/>
            <a:ext cx="6812280" cy="749808"/>
          </a:xfrm>
          <a:prstGeom prst="rect">
            <a:avLst/>
          </a:prstGeom>
          <a:solidFill>
            <a:srgbClr val="EDEBE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267712" y="1810512"/>
            <a:ext cx="475488" cy="475488"/>
          </a:xfrm>
          <a:prstGeom prst="ellipse">
            <a:avLst/>
          </a:prstGeom>
          <a:solidFill>
            <a:srgbClr val="F47B5A"/>
          </a:solidFill>
          <a:ln/>
        </p:spPr>
      </p:sp>
      <p:sp>
        <p:nvSpPr>
          <p:cNvPr id="14" name="Text 11"/>
          <p:cNvSpPr/>
          <p:nvPr/>
        </p:nvSpPr>
        <p:spPr>
          <a:xfrm>
            <a:off x="2267712" y="18105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1216" y="1847088"/>
            <a:ext cx="347472" cy="34747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337560" y="1719072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0A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Referral Program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3337560" y="20574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Reward users for inviting friends — viral growth loop that compounds over time.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2148840" y="2523744"/>
            <a:ext cx="681228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2267712" y="2670048"/>
            <a:ext cx="475488" cy="475488"/>
          </a:xfrm>
          <a:prstGeom prst="ellipse">
            <a:avLst/>
          </a:prstGeom>
          <a:solidFill>
            <a:srgbClr val="F47B5A"/>
          </a:solidFill>
          <a:ln/>
        </p:spPr>
      </p:sp>
      <p:sp>
        <p:nvSpPr>
          <p:cNvPr id="20" name="Text 16"/>
          <p:cNvSpPr/>
          <p:nvPr/>
        </p:nvSpPr>
        <p:spPr>
          <a:xfrm>
            <a:off x="2267712" y="2670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1216" y="2706624"/>
            <a:ext cx="347472" cy="34747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3337560" y="2578608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0A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Freemium Model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3337560" y="2916936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Attract users with free virtual try-ons, then convert them to paid tiers with premium features.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2148840" y="3383280"/>
            <a:ext cx="6812280" cy="749808"/>
          </a:xfrm>
          <a:prstGeom prst="rect">
            <a:avLst/>
          </a:prstGeom>
          <a:solidFill>
            <a:srgbClr val="EDEBE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2267712" y="3529584"/>
            <a:ext cx="475488" cy="475488"/>
          </a:xfrm>
          <a:prstGeom prst="ellipse">
            <a:avLst/>
          </a:prstGeom>
          <a:solidFill>
            <a:srgbClr val="F47B5A"/>
          </a:solidFill>
          <a:ln/>
        </p:spPr>
      </p:sp>
      <p:sp>
        <p:nvSpPr>
          <p:cNvPr id="26" name="Text 21"/>
          <p:cNvSpPr/>
          <p:nvPr/>
        </p:nvSpPr>
        <p:spPr>
          <a:xfrm>
            <a:off x="2267712" y="35295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1216" y="3566160"/>
            <a:ext cx="347472" cy="34747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3337560" y="3438144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0A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Brand Collaborations</a:t>
            </a:r>
            <a:endParaRPr lang="en-US" sz="1250" dirty="0"/>
          </a:p>
        </p:txBody>
      </p:sp>
      <p:sp>
        <p:nvSpPr>
          <p:cNvPr id="29" name="Text 23"/>
          <p:cNvSpPr/>
          <p:nvPr/>
        </p:nvSpPr>
        <p:spPr>
          <a:xfrm>
            <a:off x="3337560" y="377647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Work with fashion retailers and beauty brands for cross-promotions and featured placements.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2148840" y="4242816"/>
            <a:ext cx="681228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2267712" y="4389120"/>
            <a:ext cx="475488" cy="475488"/>
          </a:xfrm>
          <a:prstGeom prst="ellipse">
            <a:avLst/>
          </a:prstGeom>
          <a:solidFill>
            <a:srgbClr val="F47B5A"/>
          </a:solidFill>
          <a:ln/>
        </p:spPr>
      </p:sp>
      <p:sp>
        <p:nvSpPr>
          <p:cNvPr id="32" name="Text 26"/>
          <p:cNvSpPr/>
          <p:nvPr/>
        </p:nvSpPr>
        <p:spPr>
          <a:xfrm>
            <a:off x="2267712" y="43891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71216" y="4425696"/>
            <a:ext cx="347472" cy="347472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3337560" y="4297680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0A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SEO &amp; Digital Ads</a:t>
            </a:r>
            <a:endParaRPr lang="en-US" sz="1250" dirty="0"/>
          </a:p>
        </p:txBody>
      </p:sp>
      <p:sp>
        <p:nvSpPr>
          <p:cNvPr id="35" name="Text 28"/>
          <p:cNvSpPr/>
          <p:nvPr/>
        </p:nvSpPr>
        <p:spPr>
          <a:xfrm>
            <a:off x="3337560" y="463600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Target fashion enthusiasts through Google Ads, Instagram Ads, and TikTok campaigns.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0" y="137160"/>
            <a:ext cx="5394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6474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GROWTH &amp;</a:t>
            </a:r>
            <a:endParaRPr lang="en-US" sz="3600" dirty="0"/>
          </a:p>
          <a:p>
            <a:pPr algn="r" indent="0" marL="0">
              <a:buNone/>
            </a:pPr>
            <a:r>
              <a:rPr lang="en-US" sz="3600" b="1" dirty="0">
                <a:solidFill>
                  <a:srgbClr val="6474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MONETIZATION</a:t>
            </a:r>
            <a:endParaRPr lang="en-US" sz="3600" dirty="0"/>
          </a:p>
          <a:p>
            <a:pPr algn="r" indent="0" marL="0">
              <a:buNone/>
            </a:pPr>
            <a:r>
              <a:rPr lang="en-US" sz="3600" b="1" dirty="0">
                <a:solidFill>
                  <a:srgbClr val="6474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STRATEGY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74320" y="502920"/>
            <a:ext cx="2651760" cy="1828800"/>
          </a:xfrm>
          <a:prstGeom prst="rect">
            <a:avLst/>
          </a:prstGeom>
          <a:solidFill>
            <a:srgbClr val="F47B5A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2331720"/>
            <a:ext cx="1463040" cy="1005840"/>
          </a:xfrm>
          <a:prstGeom prst="rect">
            <a:avLst/>
          </a:prstGeom>
          <a:solidFill>
            <a:srgbClr val="F47B5A"/>
          </a:solidFill>
          <a:ln/>
        </p:spPr>
      </p:sp>
      <p:sp>
        <p:nvSpPr>
          <p:cNvPr id="5" name="Text 3"/>
          <p:cNvSpPr/>
          <p:nvPr/>
        </p:nvSpPr>
        <p:spPr>
          <a:xfrm>
            <a:off x="3108960" y="2788920"/>
            <a:ext cx="5760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7B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Revenue Streams: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27248" y="3227832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456432" y="3218688"/>
            <a:ext cx="5413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Premium Subscriptions – </a:t>
            </a:r>
            <a:pPr indent="0" marL="0">
              <a:buNone/>
            </a:pPr>
            <a:r>
              <a:rPr lang="en-US" sz="1050" dirty="0">
                <a:solidFill>
                  <a:srgbClr val="AAAAAA"/>
                </a:solidFill>
              </a:rPr>
              <a:t>Exclusive features: unlimited try-ons and personalized styling.</a:t>
            </a:r>
            <a:endParaRPr lang="en-US" sz="10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7248" y="3575304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456432" y="3566160"/>
            <a:ext cx="5413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Affiliate Commissions – </a:t>
            </a:r>
            <a:pPr indent="0" marL="0">
              <a:buNone/>
            </a:pPr>
            <a:r>
              <a:rPr lang="en-US" sz="1050" dirty="0">
                <a:solidFill>
                  <a:srgbClr val="AAAAAA"/>
                </a:solidFill>
              </a:rPr>
              <a:t>Earn from every purchase made through the app.</a:t>
            </a:r>
            <a:endParaRPr lang="en-US" sz="10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7248" y="3922776"/>
            <a:ext cx="237744" cy="23774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456432" y="3913632"/>
            <a:ext cx="5413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In-App Purchases – </a:t>
            </a:r>
            <a:pPr indent="0" marL="0">
              <a:buNone/>
            </a:pPr>
            <a:r>
              <a:rPr lang="en-US" sz="1050" dirty="0">
                <a:solidFill>
                  <a:srgbClr val="AAAAAA"/>
                </a:solidFill>
              </a:rPr>
              <a:t>Custom designs and advanced styling features.</a:t>
            </a:r>
            <a:endParaRPr lang="en-US" sz="10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7248" y="4270248"/>
            <a:ext cx="237744" cy="23774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3456432" y="4261104"/>
            <a:ext cx="5413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Ad Revenue – </a:t>
            </a:r>
            <a:pPr indent="0" marL="0">
              <a:buNone/>
            </a:pPr>
            <a:r>
              <a:rPr lang="en-US" sz="1050" dirty="0">
                <a:solidFill>
                  <a:srgbClr val="AAAAAA"/>
                </a:solidFill>
              </a:rPr>
              <a:t>Fashion and beauty brands advertise within the app.</a:t>
            </a:r>
            <a:endParaRPr lang="en-US" sz="10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27248" y="4617720"/>
            <a:ext cx="237744" cy="237744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3456432" y="4608576"/>
            <a:ext cx="5413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Virtual Fashion Events – </a:t>
            </a:r>
            <a:pPr indent="0" marL="0">
              <a:buNone/>
            </a:pPr>
            <a:r>
              <a:rPr lang="en-US" sz="1050" dirty="0">
                <a:solidFill>
                  <a:srgbClr val="AAAAAA"/>
                </a:solidFill>
              </a:rPr>
              <a:t>Paid webinars, consultations, and virtual fashion shows.</a:t>
            </a:r>
            <a:endParaRPr lang="en-US" sz="1050" dirty="0"/>
          </a:p>
        </p:txBody>
      </p:sp>
      <p:sp>
        <p:nvSpPr>
          <p:cNvPr id="16" name="Shape 9"/>
          <p:cNvSpPr/>
          <p:nvPr/>
        </p:nvSpPr>
        <p:spPr>
          <a:xfrm>
            <a:off x="274320" y="3520440"/>
            <a:ext cx="2606040" cy="137160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0"/>
          <p:cNvSpPr/>
          <p:nvPr/>
        </p:nvSpPr>
        <p:spPr>
          <a:xfrm>
            <a:off x="320040" y="358444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7B5A"/>
                </a:solidFill>
              </a:rPr>
              <a:t>User Acquisition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47B5A"/>
                </a:solidFill>
              </a:rPr>
              <a:t>Goals (Year 1)</a:t>
            </a:r>
            <a:endParaRPr lang="en-US" sz="1100" dirty="0"/>
          </a:p>
        </p:txBody>
      </p:sp>
      <p:sp>
        <p:nvSpPr>
          <p:cNvPr id="18" name="Text 11"/>
          <p:cNvSpPr/>
          <p:nvPr/>
        </p:nvSpPr>
        <p:spPr>
          <a:xfrm>
            <a:off x="384048" y="4114800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• 200,000 free users</a:t>
            </a:r>
            <a:endParaRPr lang="en-US" sz="950" dirty="0"/>
          </a:p>
        </p:txBody>
      </p:sp>
      <p:sp>
        <p:nvSpPr>
          <p:cNvPr id="19" name="Text 12"/>
          <p:cNvSpPr/>
          <p:nvPr/>
        </p:nvSpPr>
        <p:spPr>
          <a:xfrm>
            <a:off x="384048" y="4370832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• 10,000 premium subscribers</a:t>
            </a:r>
            <a:endParaRPr lang="en-US" sz="950" dirty="0"/>
          </a:p>
        </p:txBody>
      </p:sp>
      <p:sp>
        <p:nvSpPr>
          <p:cNvPr id="20" name="Text 13"/>
          <p:cNvSpPr/>
          <p:nvPr/>
        </p:nvSpPr>
        <p:spPr>
          <a:xfrm>
            <a:off x="384048" y="4626864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• 5% conversion rate</a:t>
            </a:r>
            <a:endParaRPr lang="en-US" sz="950" dirty="0"/>
          </a:p>
        </p:txBody>
      </p:sp>
      <p:sp>
        <p:nvSpPr>
          <p:cNvPr id="21" name="Text 14"/>
          <p:cNvSpPr/>
          <p:nvPr/>
        </p:nvSpPr>
        <p:spPr>
          <a:xfrm>
            <a:off x="384048" y="4882896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• Target: ₹1.83 crore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E3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8229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4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REVENUE BREAKDOWN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87552"/>
            <a:ext cx="512064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87552"/>
            <a:ext cx="64008" cy="548640"/>
          </a:xfrm>
          <a:prstGeom prst="rect">
            <a:avLst/>
          </a:prstGeom>
          <a:solidFill>
            <a:srgbClr val="F47B5A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241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0A0A"/>
                </a:solidFill>
              </a:rPr>
              <a:t>Subscription Revenue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02920" y="129844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10,000 premium users @ 5% conversion rate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749040" y="1078992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47B5A"/>
                </a:solidFill>
              </a:rPr>
              <a:t>₹1,00,00,000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20040" y="1609344"/>
            <a:ext cx="512064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609344"/>
            <a:ext cx="64008" cy="548640"/>
          </a:xfrm>
          <a:prstGeom prst="rect">
            <a:avLst/>
          </a:prstGeom>
          <a:solidFill>
            <a:srgbClr val="E86040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6459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0A0A"/>
                </a:solidFill>
              </a:rPr>
              <a:t>Affiliate Marketing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02920" y="192024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Commissions from in-app purchases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749040" y="1700784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E86040"/>
                </a:solidFill>
              </a:rPr>
              <a:t>₹41,50,000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20040" y="2231136"/>
            <a:ext cx="512064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231136"/>
            <a:ext cx="64008" cy="548640"/>
          </a:xfrm>
          <a:prstGeom prst="rect">
            <a:avLst/>
          </a:prstGeom>
          <a:solidFill>
            <a:srgbClr val="6B21A8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226771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0A0A"/>
                </a:solidFill>
              </a:rPr>
              <a:t>In-App Purchases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02920" y="254203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Custom designs &amp; advanced styling packs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749040" y="2322576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6B21A8"/>
                </a:solidFill>
              </a:rPr>
              <a:t>₹25,00,000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20040" y="2852928"/>
            <a:ext cx="512064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2852928"/>
            <a:ext cx="64008" cy="548640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28895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0A0A"/>
                </a:solidFill>
              </a:rPr>
              <a:t>Advertising Revenue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02920" y="316382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Fashion &amp; beauty brand ads within the app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749040" y="294436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333EA"/>
                </a:solidFill>
              </a:rPr>
              <a:t>₹8,35,000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320040" y="3474720"/>
            <a:ext cx="512064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3474720"/>
            <a:ext cx="64008" cy="54864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351129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0A0A"/>
                </a:solidFill>
              </a:rPr>
              <a:t>Virtual Events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02920" y="378561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Paid webinars, shows, styling consultations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749040" y="356616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A855F7"/>
                </a:solidFill>
              </a:rPr>
              <a:t>₹4,15,000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320040" y="4096512"/>
            <a:ext cx="512064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" y="4096512"/>
            <a:ext cx="64008" cy="548640"/>
          </a:xfrm>
          <a:prstGeom prst="rect">
            <a:avLst/>
          </a:prstGeom>
          <a:solidFill>
            <a:srgbClr val="C084FC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" y="413308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0A0A"/>
                </a:solidFill>
              </a:rPr>
              <a:t>Data Insights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502920" y="440740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Anonymized trend data sold to brands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749040" y="4187952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C084FC"/>
                </a:solidFill>
              </a:rPr>
              <a:t>₹4,15,000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320040" y="4773168"/>
            <a:ext cx="5120640" cy="201168"/>
          </a:xfrm>
          <a:prstGeom prst="rect">
            <a:avLst/>
          </a:prstGeom>
          <a:solidFill>
            <a:srgbClr val="F47B5A"/>
          </a:solidFill>
          <a:ln/>
        </p:spPr>
      </p:sp>
      <p:sp>
        <p:nvSpPr>
          <p:cNvPr id="35" name="Text 33"/>
          <p:cNvSpPr/>
          <p:nvPr/>
        </p:nvSpPr>
        <p:spPr>
          <a:xfrm>
            <a:off x="320040" y="4773168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TOTAL ANNUAL TARGET: ₹1,83,00,000</a:t>
            </a:r>
            <a:endParaRPr lang="en-US" sz="1050" dirty="0"/>
          </a:p>
        </p:txBody>
      </p:sp>
      <p:graphicFrame>
        <p:nvGraphicFramePr>
          <p:cNvPr id="36" name="Chart 0" descr=""/>
          <p:cNvGraphicFramePr/>
          <p:nvPr/>
        </p:nvGraphicFramePr>
        <p:xfrm>
          <a:off x="5577840" y="896112"/>
          <a:ext cx="333756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F47B5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8229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4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SUBSCRIPTION TIERS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47472" y="960120"/>
            <a:ext cx="2633472" cy="393192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7472" y="960120"/>
            <a:ext cx="2633472" cy="73152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6" name="Text 4"/>
          <p:cNvSpPr/>
          <p:nvPr/>
        </p:nvSpPr>
        <p:spPr>
          <a:xfrm>
            <a:off x="347472" y="1078992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Free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47472" y="1572768"/>
            <a:ext cx="26334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₹0/mo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621792" y="2157984"/>
            <a:ext cx="2084832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2313432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77824" y="229514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Basic AR try-ons</a:t>
            </a:r>
            <a:endParaRPr lang="en-US" sz="11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2816352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77824" y="27980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AI chatbot stylist advisor</a:t>
            </a:r>
            <a:endParaRPr lang="en-US" sz="11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3319272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77824" y="330098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Community access &amp; sharing</a:t>
            </a:r>
            <a:endParaRPr lang="en-US" sz="11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3822192"/>
            <a:ext cx="256032" cy="25603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77824" y="380390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Limited virtual accessories</a:t>
            </a:r>
            <a:endParaRPr lang="en-US" sz="1100" dirty="0"/>
          </a:p>
        </p:txBody>
      </p:sp>
      <p:sp>
        <p:nvSpPr>
          <p:cNvPr id="17" name="Shape 11"/>
          <p:cNvSpPr/>
          <p:nvPr/>
        </p:nvSpPr>
        <p:spPr>
          <a:xfrm>
            <a:off x="3163824" y="960120"/>
            <a:ext cx="2633472" cy="393192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3163824" y="960120"/>
            <a:ext cx="2633472" cy="73152"/>
          </a:xfrm>
          <a:prstGeom prst="rect">
            <a:avLst/>
          </a:prstGeom>
          <a:solidFill>
            <a:srgbClr val="F47B5A"/>
          </a:solidFill>
          <a:ln/>
        </p:spPr>
      </p:sp>
      <p:sp>
        <p:nvSpPr>
          <p:cNvPr id="19" name="Text 13"/>
          <p:cNvSpPr/>
          <p:nvPr/>
        </p:nvSpPr>
        <p:spPr>
          <a:xfrm>
            <a:off x="3163824" y="1078992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7B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Mid-Tier</a:t>
            </a:r>
            <a:endParaRPr lang="en-US" sz="2000" dirty="0"/>
          </a:p>
        </p:txBody>
      </p:sp>
      <p:sp>
        <p:nvSpPr>
          <p:cNvPr id="20" name="Text 14"/>
          <p:cNvSpPr/>
          <p:nvPr/>
        </p:nvSpPr>
        <p:spPr>
          <a:xfrm>
            <a:off x="3163824" y="1572768"/>
            <a:ext cx="26334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₹830/mo</a:t>
            </a:r>
            <a:endParaRPr lang="en-US" sz="2700" dirty="0"/>
          </a:p>
        </p:txBody>
      </p:sp>
      <p:sp>
        <p:nvSpPr>
          <p:cNvPr id="21" name="Shape 15"/>
          <p:cNvSpPr/>
          <p:nvPr/>
        </p:nvSpPr>
        <p:spPr>
          <a:xfrm>
            <a:off x="3438144" y="2157984"/>
            <a:ext cx="2084832" cy="0"/>
          </a:xfrm>
          <a:prstGeom prst="line">
            <a:avLst/>
          </a:prstGeom>
          <a:noFill/>
          <a:ln w="12700">
            <a:solidFill>
              <a:srgbClr val="F47B5A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46704" y="2313432"/>
            <a:ext cx="256032" cy="25603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694176" y="229514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Unlimited AR try-ons</a:t>
            </a:r>
            <a:endParaRPr lang="en-US" sz="110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46704" y="2816352"/>
            <a:ext cx="256032" cy="256032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3694176" y="27980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Enhanced AI personalization</a:t>
            </a:r>
            <a:endParaRPr lang="en-US" sz="1100" dirty="0"/>
          </a:p>
        </p:txBody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46704" y="3319272"/>
            <a:ext cx="256032" cy="256032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3694176" y="330098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Advanced hairstyle matching</a:t>
            </a:r>
            <a:endParaRPr lang="en-US" sz="1100" dirty="0"/>
          </a:p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46704" y="3822192"/>
            <a:ext cx="256032" cy="256032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3694176" y="380390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Accurate sizing predictions</a:t>
            </a:r>
            <a:endParaRPr lang="en-US" sz="1100" dirty="0"/>
          </a:p>
        </p:txBody>
      </p:sp>
      <p:sp>
        <p:nvSpPr>
          <p:cNvPr id="30" name="Shape 20"/>
          <p:cNvSpPr/>
          <p:nvPr/>
        </p:nvSpPr>
        <p:spPr>
          <a:xfrm>
            <a:off x="5980176" y="960120"/>
            <a:ext cx="2633472" cy="393192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1"/>
          <p:cNvSpPr/>
          <p:nvPr/>
        </p:nvSpPr>
        <p:spPr>
          <a:xfrm>
            <a:off x="5980176" y="960120"/>
            <a:ext cx="2633472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2" name="Shape 22"/>
          <p:cNvSpPr/>
          <p:nvPr/>
        </p:nvSpPr>
        <p:spPr>
          <a:xfrm>
            <a:off x="6574536" y="667512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33" name="Text 23"/>
          <p:cNvSpPr/>
          <p:nvPr/>
        </p:nvSpPr>
        <p:spPr>
          <a:xfrm>
            <a:off x="6574536" y="66751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A0A"/>
                </a:solidFill>
              </a:rPr>
              <a:t>BEST VALUE</a:t>
            </a:r>
            <a:endParaRPr lang="en-US" sz="900" dirty="0"/>
          </a:p>
        </p:txBody>
      </p:sp>
      <p:sp>
        <p:nvSpPr>
          <p:cNvPr id="34" name="Text 24"/>
          <p:cNvSpPr/>
          <p:nvPr/>
        </p:nvSpPr>
        <p:spPr>
          <a:xfrm>
            <a:off x="5980176" y="1078992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Premium</a:t>
            </a:r>
            <a:endParaRPr lang="en-US" sz="2000" dirty="0"/>
          </a:p>
        </p:txBody>
      </p:sp>
      <p:sp>
        <p:nvSpPr>
          <p:cNvPr id="35" name="Text 25"/>
          <p:cNvSpPr/>
          <p:nvPr/>
        </p:nvSpPr>
        <p:spPr>
          <a:xfrm>
            <a:off x="5980176" y="1572768"/>
            <a:ext cx="26334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₹2,080/mo</a:t>
            </a:r>
            <a:endParaRPr lang="en-US" sz="2700" dirty="0"/>
          </a:p>
        </p:txBody>
      </p:sp>
      <p:sp>
        <p:nvSpPr>
          <p:cNvPr id="36" name="Shape 26"/>
          <p:cNvSpPr/>
          <p:nvPr/>
        </p:nvSpPr>
        <p:spPr>
          <a:xfrm>
            <a:off x="6254496" y="2157984"/>
            <a:ext cx="2084832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63056" y="2313432"/>
            <a:ext cx="256032" cy="256032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6510528" y="229514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Everything in Mid-Tier</a:t>
            </a:r>
            <a:endParaRPr lang="en-US" sz="1100" dirty="0"/>
          </a:p>
        </p:txBody>
      </p:sp>
      <p:pic>
        <p:nvPicPr>
          <p:cNvPr id="3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63056" y="2816352"/>
            <a:ext cx="256032" cy="256032"/>
          </a:xfrm>
          <a:prstGeom prst="rect">
            <a:avLst/>
          </a:prstGeom>
        </p:spPr>
      </p:pic>
      <p:sp>
        <p:nvSpPr>
          <p:cNvPr id="40" name="Text 28"/>
          <p:cNvSpPr/>
          <p:nvPr/>
        </p:nvSpPr>
        <p:spPr>
          <a:xfrm>
            <a:off x="6510528" y="27980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1:1 virtual styling consults</a:t>
            </a:r>
            <a:endParaRPr lang="en-US" sz="1100" dirty="0"/>
          </a:p>
        </p:txBody>
      </p:sp>
      <p:pic>
        <p:nvPicPr>
          <p:cNvPr id="4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63056" y="3319272"/>
            <a:ext cx="256032" cy="256032"/>
          </a:xfrm>
          <a:prstGeom prst="rect">
            <a:avLst/>
          </a:prstGeom>
        </p:spPr>
      </p:pic>
      <p:sp>
        <p:nvSpPr>
          <p:cNvPr id="42" name="Text 29"/>
          <p:cNvSpPr/>
          <p:nvPr/>
        </p:nvSpPr>
        <p:spPr>
          <a:xfrm>
            <a:off x="6510528" y="330098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Custom AI outfit design</a:t>
            </a:r>
            <a:endParaRPr lang="en-US" sz="1100" dirty="0"/>
          </a:p>
        </p:txBody>
      </p:sp>
      <p:pic>
        <p:nvPicPr>
          <p:cNvPr id="4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63056" y="3822192"/>
            <a:ext cx="256032" cy="256032"/>
          </a:xfrm>
          <a:prstGeom prst="rect">
            <a:avLst/>
          </a:prstGeom>
        </p:spPr>
      </p:pic>
      <p:sp>
        <p:nvSpPr>
          <p:cNvPr id="44" name="Text 30"/>
          <p:cNvSpPr/>
          <p:nvPr/>
        </p:nvSpPr>
        <p:spPr>
          <a:xfrm>
            <a:off x="6510528" y="380390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Priority brand partnerships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8E3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8229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4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COMPETITIVE ADVANTAGE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2834640" cy="4572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9601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Feature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46120" y="960120"/>
            <a:ext cx="1828800" cy="457200"/>
          </a:xfrm>
          <a:prstGeom prst="rect">
            <a:avLst/>
          </a:prstGeom>
          <a:solidFill>
            <a:srgbClr val="F47B5A"/>
          </a:solidFill>
          <a:ln/>
        </p:spPr>
      </p:sp>
      <p:sp>
        <p:nvSpPr>
          <p:cNvPr id="7" name="Text 5"/>
          <p:cNvSpPr/>
          <p:nvPr/>
        </p:nvSpPr>
        <p:spPr>
          <a:xfrm>
            <a:off x="3246120" y="9601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GRWM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66360" y="960120"/>
            <a:ext cx="1920240" cy="4572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9" name="Text 7"/>
          <p:cNvSpPr/>
          <p:nvPr/>
        </p:nvSpPr>
        <p:spPr>
          <a:xfrm>
            <a:off x="5166360" y="9601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Static E-comm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178040" y="960120"/>
            <a:ext cx="1737360" cy="4572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1" name="Text 9"/>
          <p:cNvSpPr/>
          <p:nvPr/>
        </p:nvSpPr>
        <p:spPr>
          <a:xfrm>
            <a:off x="7178040" y="9601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In-Store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1463040"/>
            <a:ext cx="283464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" y="146304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Virtual Try-On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46120" y="1463040"/>
            <a:ext cx="18288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3246120" y="146304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7B5A"/>
                </a:solidFill>
              </a:rPr>
              <a:t>✓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166360" y="1463040"/>
            <a:ext cx="192024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5166360" y="146304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C2626"/>
                </a:solidFill>
              </a:rPr>
              <a:t>✗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178040" y="1463040"/>
            <a:ext cx="173736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7178040" y="146304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6A34A"/>
                </a:solidFill>
              </a:rPr>
              <a:t>✓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0040" y="1993392"/>
            <a:ext cx="2834640" cy="475488"/>
          </a:xfrm>
          <a:prstGeom prst="rect">
            <a:avLst/>
          </a:prstGeom>
          <a:solidFill>
            <a:srgbClr val="EAE7E2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" y="1993392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AI Personalization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246120" y="1993392"/>
            <a:ext cx="1828800" cy="475488"/>
          </a:xfrm>
          <a:prstGeom prst="rect">
            <a:avLst/>
          </a:prstGeom>
          <a:solidFill>
            <a:srgbClr val="EAE7E2"/>
          </a:solidFill>
          <a:ln/>
        </p:spPr>
      </p:sp>
      <p:sp>
        <p:nvSpPr>
          <p:cNvPr id="23" name="Text 21"/>
          <p:cNvSpPr/>
          <p:nvPr/>
        </p:nvSpPr>
        <p:spPr>
          <a:xfrm>
            <a:off x="3246120" y="199339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7B5A"/>
                </a:solidFill>
              </a:rPr>
              <a:t>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166360" y="1993392"/>
            <a:ext cx="1920240" cy="475488"/>
          </a:xfrm>
          <a:prstGeom prst="rect">
            <a:avLst/>
          </a:prstGeom>
          <a:solidFill>
            <a:srgbClr val="EAE7E2"/>
          </a:solidFill>
          <a:ln/>
        </p:spPr>
      </p:sp>
      <p:sp>
        <p:nvSpPr>
          <p:cNvPr id="25" name="Text 23"/>
          <p:cNvSpPr/>
          <p:nvPr/>
        </p:nvSpPr>
        <p:spPr>
          <a:xfrm>
            <a:off x="5166360" y="1993392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C2626"/>
                </a:solidFill>
              </a:rPr>
              <a:t>✗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178040" y="1993392"/>
            <a:ext cx="1737360" cy="475488"/>
          </a:xfrm>
          <a:prstGeom prst="rect">
            <a:avLst/>
          </a:prstGeom>
          <a:solidFill>
            <a:srgbClr val="EAE7E2"/>
          </a:solidFill>
          <a:ln/>
        </p:spPr>
      </p:sp>
      <p:sp>
        <p:nvSpPr>
          <p:cNvPr id="27" name="Text 25"/>
          <p:cNvSpPr/>
          <p:nvPr/>
        </p:nvSpPr>
        <p:spPr>
          <a:xfrm>
            <a:off x="7178040" y="199339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Limited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20040" y="2523744"/>
            <a:ext cx="283464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320040" y="2523744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Sizing Predictions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246120" y="2523744"/>
            <a:ext cx="18288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3246120" y="2523744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7B5A"/>
                </a:solidFill>
              </a:rPr>
              <a:t>✓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166360" y="2523744"/>
            <a:ext cx="192024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5166360" y="2523744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C2626"/>
                </a:solidFill>
              </a:rPr>
              <a:t>✗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7178040" y="2523744"/>
            <a:ext cx="173736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7178040" y="2523744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6A34A"/>
                </a:solidFill>
              </a:rPr>
              <a:t>✓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320040" y="3054096"/>
            <a:ext cx="2834640" cy="475488"/>
          </a:xfrm>
          <a:prstGeom prst="rect">
            <a:avLst/>
          </a:prstGeom>
          <a:solidFill>
            <a:srgbClr val="EAE7E2"/>
          </a:solidFill>
          <a:ln/>
        </p:spPr>
      </p:sp>
      <p:sp>
        <p:nvSpPr>
          <p:cNvPr id="37" name="Text 35"/>
          <p:cNvSpPr/>
          <p:nvPr/>
        </p:nvSpPr>
        <p:spPr>
          <a:xfrm>
            <a:off x="320040" y="3054096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Social Sharing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3246120" y="3054096"/>
            <a:ext cx="1828800" cy="475488"/>
          </a:xfrm>
          <a:prstGeom prst="rect">
            <a:avLst/>
          </a:prstGeom>
          <a:solidFill>
            <a:srgbClr val="EAE7E2"/>
          </a:solidFill>
          <a:ln/>
        </p:spPr>
      </p:sp>
      <p:sp>
        <p:nvSpPr>
          <p:cNvPr id="39" name="Text 37"/>
          <p:cNvSpPr/>
          <p:nvPr/>
        </p:nvSpPr>
        <p:spPr>
          <a:xfrm>
            <a:off x="3246120" y="3054096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7B5A"/>
                </a:solidFill>
              </a:rPr>
              <a:t>✓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5166360" y="3054096"/>
            <a:ext cx="1920240" cy="475488"/>
          </a:xfrm>
          <a:prstGeom prst="rect">
            <a:avLst/>
          </a:prstGeom>
          <a:solidFill>
            <a:srgbClr val="EAE7E2"/>
          </a:solidFill>
          <a:ln/>
        </p:spPr>
      </p:sp>
      <p:sp>
        <p:nvSpPr>
          <p:cNvPr id="41" name="Text 39"/>
          <p:cNvSpPr/>
          <p:nvPr/>
        </p:nvSpPr>
        <p:spPr>
          <a:xfrm>
            <a:off x="5166360" y="3054096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Limited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7178040" y="3054096"/>
            <a:ext cx="1737360" cy="475488"/>
          </a:xfrm>
          <a:prstGeom prst="rect">
            <a:avLst/>
          </a:prstGeom>
          <a:solidFill>
            <a:srgbClr val="EAE7E2"/>
          </a:solidFill>
          <a:ln/>
        </p:spPr>
      </p:sp>
      <p:sp>
        <p:nvSpPr>
          <p:cNvPr id="43" name="Text 41"/>
          <p:cNvSpPr/>
          <p:nvPr/>
        </p:nvSpPr>
        <p:spPr>
          <a:xfrm>
            <a:off x="7178040" y="3054096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C2626"/>
                </a:solidFill>
              </a:rPr>
              <a:t>✗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320040" y="3584448"/>
            <a:ext cx="283464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Text 43"/>
          <p:cNvSpPr/>
          <p:nvPr/>
        </p:nvSpPr>
        <p:spPr>
          <a:xfrm>
            <a:off x="320040" y="3584448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Chatbot Stylist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3246120" y="3584448"/>
            <a:ext cx="18288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7" name="Text 45"/>
          <p:cNvSpPr/>
          <p:nvPr/>
        </p:nvSpPr>
        <p:spPr>
          <a:xfrm>
            <a:off x="3246120" y="358444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7B5A"/>
                </a:solidFill>
              </a:rPr>
              <a:t>✓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5166360" y="3584448"/>
            <a:ext cx="192024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Text 47"/>
          <p:cNvSpPr/>
          <p:nvPr/>
        </p:nvSpPr>
        <p:spPr>
          <a:xfrm>
            <a:off x="5166360" y="358444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C2626"/>
                </a:solidFill>
              </a:rPr>
              <a:t>✗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7178040" y="3584448"/>
            <a:ext cx="173736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Text 49"/>
          <p:cNvSpPr/>
          <p:nvPr/>
        </p:nvSpPr>
        <p:spPr>
          <a:xfrm>
            <a:off x="7178040" y="3584448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C2626"/>
                </a:solidFill>
              </a:rPr>
              <a:t>✗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320040" y="4114800"/>
            <a:ext cx="2834640" cy="475488"/>
          </a:xfrm>
          <a:prstGeom prst="rect">
            <a:avLst/>
          </a:prstGeom>
          <a:solidFill>
            <a:srgbClr val="EAE7E2"/>
          </a:solidFill>
          <a:ln/>
        </p:spPr>
      </p:sp>
      <p:sp>
        <p:nvSpPr>
          <p:cNvPr id="53" name="Text 51"/>
          <p:cNvSpPr/>
          <p:nvPr/>
        </p:nvSpPr>
        <p:spPr>
          <a:xfrm>
            <a:off x="320040" y="411480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24/7 Availability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3246120" y="4114800"/>
            <a:ext cx="1828800" cy="475488"/>
          </a:xfrm>
          <a:prstGeom prst="rect">
            <a:avLst/>
          </a:prstGeom>
          <a:solidFill>
            <a:srgbClr val="EAE7E2"/>
          </a:solidFill>
          <a:ln/>
        </p:spPr>
      </p:sp>
      <p:sp>
        <p:nvSpPr>
          <p:cNvPr id="55" name="Text 53"/>
          <p:cNvSpPr/>
          <p:nvPr/>
        </p:nvSpPr>
        <p:spPr>
          <a:xfrm>
            <a:off x="3246120" y="411480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7B5A"/>
                </a:solidFill>
              </a:rPr>
              <a:t>✓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5166360" y="4114800"/>
            <a:ext cx="1920240" cy="475488"/>
          </a:xfrm>
          <a:prstGeom prst="rect">
            <a:avLst/>
          </a:prstGeom>
          <a:solidFill>
            <a:srgbClr val="EAE7E2"/>
          </a:solidFill>
          <a:ln/>
        </p:spPr>
      </p:sp>
      <p:sp>
        <p:nvSpPr>
          <p:cNvPr id="57" name="Text 55"/>
          <p:cNvSpPr/>
          <p:nvPr/>
        </p:nvSpPr>
        <p:spPr>
          <a:xfrm>
            <a:off x="5166360" y="411480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6A34A"/>
                </a:solidFill>
              </a:rPr>
              <a:t>✓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7178040" y="4114800"/>
            <a:ext cx="1737360" cy="475488"/>
          </a:xfrm>
          <a:prstGeom prst="rect">
            <a:avLst/>
          </a:prstGeom>
          <a:solidFill>
            <a:srgbClr val="EAE7E2"/>
          </a:solidFill>
          <a:ln/>
        </p:spPr>
      </p:sp>
      <p:sp>
        <p:nvSpPr>
          <p:cNvPr id="59" name="Text 57"/>
          <p:cNvSpPr/>
          <p:nvPr/>
        </p:nvSpPr>
        <p:spPr>
          <a:xfrm>
            <a:off x="7178040" y="411480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C2626"/>
                </a:solidFill>
              </a:rPr>
              <a:t>✗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2286000"/>
            <a:ext cx="5486400" cy="5486400"/>
          </a:xfrm>
          <a:prstGeom prst="ellipse">
            <a:avLst/>
          </a:prstGeom>
          <a:solidFill>
            <a:srgbClr val="F47B5A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-1097280"/>
            <a:ext cx="4114800" cy="4114800"/>
          </a:xfrm>
          <a:prstGeom prst="ellipse">
            <a:avLst/>
          </a:prstGeom>
          <a:solidFill>
            <a:srgbClr val="6B21A8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82296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i="1" dirty="0">
                <a:solidFill>
                  <a:srgbClr val="F5F0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914400" y="214884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47B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GRWM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914400" y="2907792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5F0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Get Ready With Me — Your Virtual Stylist, Always On.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926080" y="3547872"/>
            <a:ext cx="3291840" cy="566928"/>
          </a:xfrm>
          <a:prstGeom prst="roundRect">
            <a:avLst>
              <a:gd name="adj" fmla="val 50000"/>
            </a:avLst>
          </a:prstGeom>
          <a:solidFill>
            <a:srgbClr val="F47B5A"/>
          </a:solidFill>
          <a:ln/>
        </p:spPr>
      </p:sp>
      <p:sp>
        <p:nvSpPr>
          <p:cNvPr id="8" name="Text 6"/>
          <p:cNvSpPr/>
          <p:nvPr/>
        </p:nvSpPr>
        <p:spPr>
          <a:xfrm>
            <a:off x="2926080" y="354787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Partner With Us Today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4297680"/>
            <a:ext cx="2926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• ₹1.83 Cr Revenue Target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91840" y="4297680"/>
            <a:ext cx="2926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• 5% Conversion Goal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52160" y="4297680"/>
            <a:ext cx="2926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• 10,000 Premium Users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4736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F47B5A"/>
                </a:solidFill>
              </a:rPr>
              <a:t>WWW.BOWOW.COM  ·  contact@bowow.com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GRWM – Get Ready With Me</dc:title>
  <dc:subject>PptxGenJS Presentation</dc:subject>
  <dc:creator>PptxGenJS</dc:creator>
  <cp:lastModifiedBy>PptxGenJS</cp:lastModifiedBy>
  <cp:revision>1</cp:revision>
  <dcterms:created xsi:type="dcterms:W3CDTF">2026-05-14T04:31:41Z</dcterms:created>
  <dcterms:modified xsi:type="dcterms:W3CDTF">2026-05-14T04:31:41Z</dcterms:modified>
</cp:coreProperties>
</file>